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1371600" y="2011680"/>
            <a:ext cx="731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ain_title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600" b="1">
                <a:solidFill>
                  <a:srgbClr val="FFFFFF"/>
                </a:solidFill>
                <a:latin typeface="Segoe UI Light"/>
              </a:rPr>
              <a:t>SmartInvoice AI</a:t>
            </a:r>
          </a:p>
        </p:txBody>
      </p:sp>
      <p:sp>
        <p:nvSpPr>
          <p:cNvPr id="6" name="tagline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10B981"/>
                </a:solidFill>
                <a:latin typeface="Segoe UI Light"/>
              </a:rPr>
              <a:t>Plateforme SaaS Multi-Tenant de Gestion Intelligente des Factures</a:t>
            </a:r>
          </a:p>
        </p:txBody>
      </p:sp>
      <p:sp>
        <p:nvSpPr>
          <p:cNvPr id="7" name="tagline2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94A3B8"/>
                </a:solidFill>
                <a:latin typeface="Segoe UI Light"/>
              </a:rPr>
              <a:t>avec Conformite Fiscale Tunisienne</a:t>
            </a:r>
          </a:p>
        </p:txBody>
      </p:sp>
      <p:sp>
        <p:nvSpPr>
          <p:cNvPr id="8" name="student_info"/>
          <p:cNvSpPr txBox="1"/>
          <p:nvPr/>
        </p:nvSpPr>
        <p:spPr>
          <a:xfrm>
            <a:off x="1371600" y="50292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Segoe UI Light"/>
              </a:rPr>
              <a:t>Anas Badri  |  Annee academique 2025-2026</a:t>
            </a:r>
          </a:p>
        </p:txBody>
      </p:sp>
      <p:sp>
        <p:nvSpPr>
          <p:cNvPr id="9" name="dot_0"/>
          <p:cNvSpPr/>
          <p:nvPr/>
        </p:nvSpPr>
        <p:spPr>
          <a:xfrm>
            <a:off x="1371600" y="4754880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t_1"/>
          <p:cNvSpPr/>
          <p:nvPr/>
        </p:nvSpPr>
        <p:spPr>
          <a:xfrm>
            <a:off x="1600200" y="4754880"/>
            <a:ext cx="73152" cy="73152"/>
          </a:xfrm>
          <a:prstGeom prst="ellipse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t_2"/>
          <p:cNvSpPr/>
          <p:nvPr/>
        </p:nvSpPr>
        <p:spPr>
          <a:xfrm>
            <a:off x="1828800" y="4754880"/>
            <a:ext cx="73152" cy="73152"/>
          </a:xfrm>
          <a:prstGeom prst="ellipse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t_3"/>
          <p:cNvSpPr/>
          <p:nvPr/>
        </p:nvSpPr>
        <p:spPr>
          <a:xfrm>
            <a:off x="2057400" y="4754880"/>
            <a:ext cx="73152" cy="73152"/>
          </a:xfrm>
          <a:prstGeom prst="ellipse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t_4"/>
          <p:cNvSpPr/>
          <p:nvPr/>
        </p:nvSpPr>
        <p:spPr>
          <a:xfrm>
            <a:off x="2286000" y="4754880"/>
            <a:ext cx="73152" cy="73152"/>
          </a:xfrm>
          <a:prstGeom prst="ellipse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La Problematique</a:t>
            </a:r>
          </a:p>
        </p:txBody>
      </p:sp>
      <p:sp>
        <p:nvSpPr>
          <p:cNvPr id="6" name="prob_card_0"/>
          <p:cNvSpPr/>
          <p:nvPr/>
        </p:nvSpPr>
        <p:spPr>
          <a:xfrm>
            <a:off x="731520" y="1828800"/>
            <a:ext cx="493776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egoe UI Ligh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Gestion Manuelle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060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80% des PME tunisiennes traitent leurs factures manuellement</a:t>
            </a:r>
          </a:p>
        </p:txBody>
      </p:sp>
      <p:sp>
        <p:nvSpPr>
          <p:cNvPr id="10" name="prob_card_1"/>
          <p:cNvSpPr/>
          <p:nvPr/>
        </p:nvSpPr>
        <p:spPr>
          <a:xfrm>
            <a:off x="6035040" y="1828800"/>
            <a:ext cx="493776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egoe UI Ligh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031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Non-Conformite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060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Loi El Fatoora 2026 : obligation de facturation electronique</a:t>
            </a:r>
          </a:p>
        </p:txBody>
      </p:sp>
      <p:sp>
        <p:nvSpPr>
          <p:cNvPr id="14" name="prob_card_2"/>
          <p:cNvSpPr/>
          <p:nvPr/>
        </p:nvSpPr>
        <p:spPr>
          <a:xfrm>
            <a:off x="731520" y="4114800"/>
            <a:ext cx="493776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egoe UI Ligh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891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Erreurs Humaines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920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Saisie manuelle = 3-5% taux d'erreur sur les montants</a:t>
            </a:r>
          </a:p>
        </p:txBody>
      </p:sp>
      <p:sp>
        <p:nvSpPr>
          <p:cNvPr id="18" name="prob_card_3"/>
          <p:cNvSpPr/>
          <p:nvPr/>
        </p:nvSpPr>
        <p:spPr>
          <a:xfrm>
            <a:off x="6035040" y="4114800"/>
            <a:ext cx="493776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29768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0B981"/>
                </a:solidFill>
                <a:latin typeface="Segoe UI Ligh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38912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Temps Perdu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8920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15-20 min par facture en traitement manuel moyen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2 /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Notre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94A3B8"/>
                </a:solidFill>
                <a:latin typeface="Segoe UI Light"/>
              </a:rPr>
              <a:t>Une plateforme SaaS complete combinant IA et conformite fiscale tunisienne</a:t>
            </a:r>
          </a:p>
        </p:txBody>
      </p:sp>
      <p:sp>
        <p:nvSpPr>
          <p:cNvPr id="7" name="pillar_0"/>
          <p:cNvSpPr/>
          <p:nvPr/>
        </p:nvSpPr>
        <p:spPr>
          <a:xfrm>
            <a:off x="731520" y="2560320"/>
            <a:ext cx="3291840" cy="34747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834640"/>
            <a:ext cx="548640" cy="50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>
                <a:solidFill>
                  <a:srgbClr val="2E75B6"/>
                </a:solidFill>
                <a:latin typeface="Segoe UI Ligh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Extraction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Pipeline intelligent Claude + Ollama avec scoring de confiance et validation automatique</a:t>
            </a:r>
          </a:p>
        </p:txBody>
      </p:sp>
      <p:sp>
        <p:nvSpPr>
          <p:cNvPr id="12" name="pillar_1"/>
          <p:cNvSpPr/>
          <p:nvPr/>
        </p:nvSpPr>
        <p:spPr>
          <a:xfrm>
            <a:off x="4389120" y="2560320"/>
            <a:ext cx="3291840" cy="34747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2834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0632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>
                <a:solidFill>
                  <a:srgbClr val="10B981"/>
                </a:solidFill>
                <a:latin typeface="Segoe UI Ligh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490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Multi-Tenant SaaS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9768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Architecture isolee par organisation, gestion d'equipe avec roles, facturation Stripe integree</a:t>
            </a:r>
          </a:p>
        </p:txBody>
      </p:sp>
      <p:sp>
        <p:nvSpPr>
          <p:cNvPr id="17" name="pillar_2"/>
          <p:cNvSpPr/>
          <p:nvPr/>
        </p:nvSpPr>
        <p:spPr>
          <a:xfrm>
            <a:off x="8046720" y="2560320"/>
            <a:ext cx="3291840" cy="34747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834640"/>
            <a:ext cx="5486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0632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>
                <a:solidFill>
                  <a:srgbClr val="F59E0B"/>
                </a:solidFill>
                <a:latin typeface="Segoe UI L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Conformite TTN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9768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El Fatoora, TEJ retenue a la source, signature electronique XAdES-B, validation fiscale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3 /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Architecture Multi-Tenant</a:t>
            </a:r>
          </a:p>
        </p:txBody>
      </p:sp>
      <p:sp>
        <p:nvSpPr>
          <p:cNvPr id="6" name="layer_FRONTEND"/>
          <p:cNvSpPr/>
          <p:nvPr/>
        </p:nvSpPr>
        <p:spPr>
          <a:xfrm>
            <a:off x="1371600" y="1645920"/>
            <a:ext cx="9418320" cy="685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109728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71907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E75B6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1907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Next.js 16 / React 19 / TypeScript / Tailwind CSS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3A5068"/>
                </a:solidFill>
                <a:latin typeface="Segoe UI"/>
              </a:rPr>
              <a:t>▼</a:t>
            </a:r>
          </a:p>
        </p:txBody>
      </p:sp>
      <p:sp>
        <p:nvSpPr>
          <p:cNvPr id="11" name="layer_API GATEWAY"/>
          <p:cNvSpPr/>
          <p:nvPr/>
        </p:nvSpPr>
        <p:spPr>
          <a:xfrm>
            <a:off x="1371600" y="2468880"/>
            <a:ext cx="9418320" cy="685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2468880"/>
            <a:ext cx="109728" cy="685800"/>
          </a:xfrm>
          <a:prstGeom prst="rect">
            <a:avLst/>
          </a:prstGeom>
          <a:solidFill>
            <a:srgbClr val="388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254203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388AE5"/>
                </a:solidFill>
                <a:latin typeface="Segoe UI"/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4203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Flask REST API  |  70+ Endpoints  |  JWT Auth  |  CORS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0175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3A5068"/>
                </a:solidFill>
                <a:latin typeface="Segoe UI"/>
              </a:rPr>
              <a:t>▼</a:t>
            </a:r>
          </a:p>
        </p:txBody>
      </p:sp>
      <p:sp>
        <p:nvSpPr>
          <p:cNvPr id="16" name="layer_SERVICES"/>
          <p:cNvSpPr/>
          <p:nvPr/>
        </p:nvSpPr>
        <p:spPr>
          <a:xfrm>
            <a:off x="1371600" y="3291840"/>
            <a:ext cx="9418320" cy="685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3291840"/>
            <a:ext cx="10972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336499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36499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Extraction IA  |  TTN  |  TEJ  |  Notifications  |  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404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3A5068"/>
                </a:solidFill>
                <a:latin typeface="Segoe UI"/>
              </a:rPr>
              <a:t>▼</a:t>
            </a:r>
          </a:p>
        </p:txBody>
      </p:sp>
      <p:sp>
        <p:nvSpPr>
          <p:cNvPr id="21" name="layer_WORKERS"/>
          <p:cNvSpPr/>
          <p:nvPr/>
        </p:nvSpPr>
        <p:spPr>
          <a:xfrm>
            <a:off x="1371600" y="4114800"/>
            <a:ext cx="9418320" cy="685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4114800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18795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WORKERS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18795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Celery  |  Redis Broker  |  Traitement Asynchrone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6634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3A5068"/>
                </a:solidFill>
                <a:latin typeface="Segoe UI"/>
              </a:rPr>
              <a:t>▼</a:t>
            </a:r>
          </a:p>
        </p:txBody>
      </p:sp>
      <p:sp>
        <p:nvSpPr>
          <p:cNvPr id="26" name="layer_DATA"/>
          <p:cNvSpPr/>
          <p:nvPr/>
        </p:nvSpPr>
        <p:spPr>
          <a:xfrm>
            <a:off x="1371600" y="4937760"/>
            <a:ext cx="9418320" cy="685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71600" y="4937760"/>
            <a:ext cx="109728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501091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EF4444"/>
                </a:solidFill>
                <a:latin typeface="Segoe UI"/>
              </a:rPr>
              <a:t>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010912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MongoDB 7  |  Redis Cache  |  File Storage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371600"/>
            <a:ext cx="3017520" cy="8229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41732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0B981"/>
                </a:solidFill>
                <a:latin typeface="Segoe UI"/>
              </a:rPr>
              <a:t>Isolation Multi-Tenant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1691640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Donnees isolees par org_id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4 / 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Stack Technique</a:t>
            </a:r>
          </a:p>
        </p:txBody>
      </p:sp>
      <p:sp>
        <p:nvSpPr>
          <p:cNvPr id="6" name="stack_0"/>
          <p:cNvSpPr/>
          <p:nvPr/>
        </p:nvSpPr>
        <p:spPr>
          <a:xfrm>
            <a:off x="548640" y="1737360"/>
            <a:ext cx="2606040" cy="45720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0604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Next.js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TypeScript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Tailwind CSS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Shadcn/ui + Radix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Recharts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React Hook Form</a:t>
            </a:r>
          </a:p>
        </p:txBody>
      </p:sp>
      <p:sp>
        <p:nvSpPr>
          <p:cNvPr id="16" name="stack_1"/>
          <p:cNvSpPr/>
          <p:nvPr/>
        </p:nvSpPr>
        <p:spPr>
          <a:xfrm>
            <a:off x="3383280" y="1737360"/>
            <a:ext cx="2606040" cy="45720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37360"/>
            <a:ext cx="260604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847088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146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Flask + CORS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0175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Python 3.10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20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PyMongo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233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Celery + Redis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5262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Gunicorn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292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pdfplumber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532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Tesseract OCR</a:t>
            </a:r>
          </a:p>
        </p:txBody>
      </p:sp>
      <p:sp>
        <p:nvSpPr>
          <p:cNvPr id="26" name="stack_2"/>
          <p:cNvSpPr/>
          <p:nvPr/>
        </p:nvSpPr>
        <p:spPr>
          <a:xfrm>
            <a:off x="6217920" y="1737360"/>
            <a:ext cx="2606040" cy="45720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737360"/>
            <a:ext cx="260604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847088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Intelligence Artificielle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5146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Claude Sonnet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0175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Ollama (Qwen 2.5)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20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Template 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233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Scoring Confiance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262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OCR Multi-langue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292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50+ Devises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532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Validation Auto</a:t>
            </a:r>
          </a:p>
        </p:txBody>
      </p:sp>
      <p:sp>
        <p:nvSpPr>
          <p:cNvPr id="36" name="stack_3"/>
          <p:cNvSpPr/>
          <p:nvPr/>
        </p:nvSpPr>
        <p:spPr>
          <a:xfrm>
            <a:off x="9052560" y="1737360"/>
            <a:ext cx="2606040" cy="45720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1737360"/>
            <a:ext cx="260604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1847088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Infrastructure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5146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Docker Compose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0175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MongoDB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52044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Redis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0233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Stripe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5262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Twilio SMS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02920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Gmail SMTP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55321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•  GitHub CI/CD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5 / 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Pipeline IA : Triple Fallback</a:t>
            </a:r>
          </a:p>
        </p:txBody>
      </p:sp>
      <p:sp>
        <p:nvSpPr>
          <p:cNvPr id="6" name="pipe_input"/>
          <p:cNvSpPr/>
          <p:nvPr/>
        </p:nvSpPr>
        <p:spPr>
          <a:xfrm>
            <a:off x="731520" y="2011680"/>
            <a:ext cx="2286000" cy="10972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0B981"/>
                </a:solidFill>
                <a:latin typeface="Segoe UI"/>
              </a:rPr>
              <a:t>ENTREE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PDF / Image / 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10" name="pipe_ocr"/>
          <p:cNvSpPr/>
          <p:nvPr/>
        </p:nvSpPr>
        <p:spPr>
          <a:xfrm>
            <a:off x="3474720" y="2011680"/>
            <a:ext cx="2286000" cy="10972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2E75B6"/>
                </a:solidFill>
                <a:latin typeface="Segoe UI"/>
              </a:rPr>
              <a:t>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Tesseract OCR + pdfplumber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2860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14" name="pipe_llm"/>
          <p:cNvSpPr/>
          <p:nvPr/>
        </p:nvSpPr>
        <p:spPr>
          <a:xfrm>
            <a:off x="6217920" y="1828800"/>
            <a:ext cx="53035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59E0B"/>
                </a:solidFill>
                <a:latin typeface="Segoe UI"/>
              </a:rPr>
              <a:t>EXTRACTION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86000"/>
            <a:ext cx="1463040" cy="82296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3317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2E75B6"/>
                </a:solidFill>
                <a:latin typeface="Segoe UI"/>
              </a:rPr>
              <a:t>Claude Sonnet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API Cloud Primaire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286000"/>
            <a:ext cx="1463040" cy="82296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10B981"/>
                </a:solidFill>
                <a:latin typeface="Segoe UI"/>
              </a:rPr>
              <a:t>Ollama Qwen 2.5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60604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Local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286000"/>
            <a:ext cx="1463040" cy="82296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3317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94A3B8"/>
                </a:solidFill>
                <a:latin typeface="Segoe UI"/>
              </a:rPr>
              <a:t>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60604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94A3B8"/>
                </a:solidFill>
                <a:latin typeface="Segoe UI"/>
              </a:rPr>
              <a:t>Dernier Recours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576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▼  SORTIE STRUCTUREE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2560320" cy="20116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434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Donnees Extraites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5488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vendor, invoice_no, date, line_items, totals, bill_to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4206240"/>
            <a:ext cx="2560320" cy="20116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43434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Scoring Confiance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475488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0-100 par champ, champs critiques identifies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206240"/>
            <a:ext cx="2560320" cy="20116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3434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Validation Auto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75488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Conformite fiscale, reconciliation arithmetique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4206240"/>
            <a:ext cx="2560320" cy="20116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434340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Review Humain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4754880"/>
            <a:ext cx="21945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Seuil &lt; 60% confiance, interface double ecran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6 / 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Conformite Fiscale Tunisienne</a:t>
            </a:r>
          </a:p>
        </p:txBody>
      </p:sp>
      <p:sp>
        <p:nvSpPr>
          <p:cNvPr id="6" name="comp_0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2918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El Fatoora TTN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51760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Soumission electronique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91840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Matricule fiscale valide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Format XML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71999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3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Audit trail complet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212079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0351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Score conformite 0-100%</a:t>
            </a:r>
          </a:p>
        </p:txBody>
      </p:sp>
      <p:sp>
        <p:nvSpPr>
          <p:cNvPr id="19" name="comp_1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828800"/>
            <a:ext cx="329184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9202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TEJ - Retenue a la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651760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7432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Certificats de retenue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291840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5+ types de retenue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931920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0233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Calcul automatique taux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571999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66343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Export PDF signe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5212079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30351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Import batch CSV</a:t>
            </a:r>
          </a:p>
        </p:txBody>
      </p:sp>
      <p:sp>
        <p:nvSpPr>
          <p:cNvPr id="32" name="comp_2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1828800"/>
            <a:ext cx="32918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19202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Signature XAdES-B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2651760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7432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Signature electronique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3291840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3832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Validation certificats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3931920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40233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Chaine de confiance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4571999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466343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NGSign compatible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5212079"/>
            <a:ext cx="2926080" cy="50292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5303519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Verification integree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7 / 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_badge"/>
          <p:cNvSpPr/>
          <p:nvPr/>
        </p:nvSpPr>
        <p:spPr>
          <a:xfrm>
            <a:off x="731520" y="457200"/>
            <a:ext cx="164592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SPRINT 1</a:t>
            </a:r>
          </a:p>
        </p:txBody>
      </p:sp>
      <p:sp>
        <p:nvSpPr>
          <p:cNvPr id="6" name="accent_line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_title"/>
          <p:cNvSpPr txBox="1"/>
          <p:nvPr/>
        </p:nvSpPr>
        <p:spPr>
          <a:xfrm>
            <a:off x="731520" y="1280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Segoe UI Light"/>
              </a:rPr>
              <a:t>Authentification &amp; Multi-Tenant</a:t>
            </a:r>
          </a:p>
        </p:txBody>
      </p:sp>
      <p:sp>
        <p:nvSpPr>
          <p:cNvPr id="8" name="s1_feat_0"/>
          <p:cNvSpPr/>
          <p:nvPr/>
        </p:nvSpPr>
        <p:spPr>
          <a:xfrm>
            <a:off x="731520" y="2286000"/>
            <a:ext cx="3291840" cy="17373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46888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JWT HS256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8036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Token avec claims org_id et org_role, expiration 24h</a:t>
            </a:r>
          </a:p>
        </p:txBody>
      </p:sp>
      <p:sp>
        <p:nvSpPr>
          <p:cNvPr id="13" name="s1_feat_1"/>
          <p:cNvSpPr/>
          <p:nvPr/>
        </p:nvSpPr>
        <p:spPr>
          <a:xfrm>
            <a:off x="4389120" y="2286000"/>
            <a:ext cx="3291840" cy="17373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46888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48716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68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Inscription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88036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Onboarding wizard multi-etapes avec creation org auto</a:t>
            </a:r>
          </a:p>
        </p:txBody>
      </p:sp>
      <p:sp>
        <p:nvSpPr>
          <p:cNvPr id="18" name="s1_feat_2"/>
          <p:cNvSpPr/>
          <p:nvPr/>
        </p:nvSpPr>
        <p:spPr>
          <a:xfrm>
            <a:off x="8046720" y="2286000"/>
            <a:ext cx="3291840" cy="17373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0" y="246888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48716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468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Roles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88036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Owner, Admin, Member, Viewer avec decorateurs Python</a:t>
            </a:r>
          </a:p>
        </p:txBody>
      </p:sp>
      <p:sp>
        <p:nvSpPr>
          <p:cNvPr id="23" name="s1_feat_3"/>
          <p:cNvSpPr/>
          <p:nvPr/>
        </p:nvSpPr>
        <p:spPr>
          <a:xfrm>
            <a:off x="731520" y="4389120"/>
            <a:ext cx="3291840" cy="17373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57200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5902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720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Multi-Tenant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8348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Isolation donnees par org_id sur toutes les collections</a:t>
            </a:r>
          </a:p>
        </p:txBody>
      </p:sp>
      <p:sp>
        <p:nvSpPr>
          <p:cNvPr id="28" name="s1_feat_4"/>
          <p:cNvSpPr/>
          <p:nvPr/>
        </p:nvSpPr>
        <p:spPr>
          <a:xfrm>
            <a:off x="4389120" y="4389120"/>
            <a:ext cx="3291840" cy="17373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457200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45902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5720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Invitations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98348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Systeme d'invitation email avec token 7 jours</a:t>
            </a:r>
          </a:p>
        </p:txBody>
      </p:sp>
      <p:sp>
        <p:nvSpPr>
          <p:cNvPr id="33" name="s1_feat_5"/>
          <p:cNvSpPr/>
          <p:nvPr/>
        </p:nvSpPr>
        <p:spPr>
          <a:xfrm>
            <a:off x="8046720" y="4389120"/>
            <a:ext cx="3291840" cy="17373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29600" y="457200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45902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5720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Org Switcher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983480"/>
            <a:ext cx="2377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Navigation entre organisations sans re-authentification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8 / 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_badge"/>
          <p:cNvSpPr/>
          <p:nvPr/>
        </p:nvSpPr>
        <p:spPr>
          <a:xfrm>
            <a:off x="731520" y="457200"/>
            <a:ext cx="164592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SPRINT 1</a:t>
            </a:r>
          </a:p>
        </p:txBody>
      </p:sp>
      <p:sp>
        <p:nvSpPr>
          <p:cNvPr id="6" name="accent_line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_title"/>
          <p:cNvSpPr txBox="1"/>
          <p:nvPr/>
        </p:nvSpPr>
        <p:spPr>
          <a:xfrm>
            <a:off x="731520" y="1280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Segoe UI Light"/>
              </a:rPr>
              <a:t>Flux d'Authentification JWT</a:t>
            </a:r>
          </a:p>
        </p:txBody>
      </p:sp>
      <p:sp>
        <p:nvSpPr>
          <p:cNvPr id="8" name="jwt_step_0"/>
          <p:cNvSpPr/>
          <p:nvPr/>
        </p:nvSpPr>
        <p:spPr>
          <a:xfrm>
            <a:off x="457200" y="2286000"/>
            <a:ext cx="2011680" cy="16459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0116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915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Login Request email +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43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13" name="jwt_step_1"/>
          <p:cNvSpPr/>
          <p:nvPr/>
        </p:nvSpPr>
        <p:spPr>
          <a:xfrm>
            <a:off x="2743200" y="2286000"/>
            <a:ext cx="2011680" cy="16459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286000"/>
            <a:ext cx="20116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35915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API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8346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Verification bcrypt + Generation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43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18" name="jwt_step_2"/>
          <p:cNvSpPr/>
          <p:nvPr/>
        </p:nvSpPr>
        <p:spPr>
          <a:xfrm>
            <a:off x="5029200" y="2286000"/>
            <a:ext cx="2011680" cy="16459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2286000"/>
            <a:ext cx="20116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35915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346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Lookup user + org membership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743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23" name="jwt_step_3"/>
          <p:cNvSpPr/>
          <p:nvPr/>
        </p:nvSpPr>
        <p:spPr>
          <a:xfrm>
            <a:off x="7315200" y="2286000"/>
            <a:ext cx="2011680" cy="16459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2286000"/>
            <a:ext cx="20116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35915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Token JWT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8346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user_id, email, org_id, org_role, exp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743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28" name="jwt_step_4"/>
          <p:cNvSpPr/>
          <p:nvPr/>
        </p:nvSpPr>
        <p:spPr>
          <a:xfrm>
            <a:off x="9601200" y="2286000"/>
            <a:ext cx="2011680" cy="16459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2286000"/>
            <a:ext cx="2011680" cy="411480"/>
          </a:xfrm>
          <a:prstGeom prst="rect">
            <a:avLst/>
          </a:prstGeom>
          <a:solidFill>
            <a:srgbClr val="388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359152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Routes Protegees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83464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@token_required @org_required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Controle d'Acces par Role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10515600" cy="347472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8289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0B981"/>
                </a:solidFill>
                <a:latin typeface="Segoe UI"/>
              </a:rPr>
              <a:t>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882896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Tout, facturation, supprimer org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257800"/>
            <a:ext cx="10515600" cy="347472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29437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0B981"/>
                </a:solidFill>
                <a:latin typeface="Segoe UI"/>
              </a:rPr>
              <a:t>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5294376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Gerer membres, factures, parametres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669280"/>
            <a:ext cx="10515600" cy="347472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70585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0B981"/>
                </a:solidFill>
                <a:latin typeface="Segoe UI"/>
              </a:rPr>
              <a:t>Member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705856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Upload, voir, editer factures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6080760"/>
            <a:ext cx="10515600" cy="347472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11733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0B981"/>
                </a:solidFill>
                <a:latin typeface="Segoe UI"/>
              </a:rPr>
              <a:t>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6117336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Lecture seule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9 / 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_badge"/>
          <p:cNvSpPr/>
          <p:nvPr/>
        </p:nvSpPr>
        <p:spPr>
          <a:xfrm>
            <a:off x="731520" y="457200"/>
            <a:ext cx="164592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SPRINT 1</a:t>
            </a:r>
          </a:p>
        </p:txBody>
      </p:sp>
      <p:sp>
        <p:nvSpPr>
          <p:cNvPr id="6" name="accent_line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_title"/>
          <p:cNvSpPr txBox="1"/>
          <p:nvPr/>
        </p:nvSpPr>
        <p:spPr>
          <a:xfrm>
            <a:off x="731520" y="1280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Segoe UI Light"/>
              </a:rPr>
              <a:t>Resultats Sprint 1</a:t>
            </a:r>
          </a:p>
        </p:txBody>
      </p:sp>
      <p:sp>
        <p:nvSpPr>
          <p:cNvPr id="8" name="s1_metric_0"/>
          <p:cNvSpPr/>
          <p:nvPr/>
        </p:nvSpPr>
        <p:spPr>
          <a:xfrm>
            <a:off x="73152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23160"/>
            <a:ext cx="457200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Routes Auth</a:t>
            </a:r>
          </a:p>
        </p:txBody>
      </p:sp>
      <p:sp>
        <p:nvSpPr>
          <p:cNvPr id="12" name="s1_metric_1"/>
          <p:cNvSpPr/>
          <p:nvPr/>
        </p:nvSpPr>
        <p:spPr>
          <a:xfrm>
            <a:off x="356616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2423160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Roles RBAC</a:t>
            </a:r>
          </a:p>
        </p:txBody>
      </p:sp>
      <p:sp>
        <p:nvSpPr>
          <p:cNvPr id="16" name="s1_metric_2"/>
          <p:cNvSpPr/>
          <p:nvPr/>
        </p:nvSpPr>
        <p:spPr>
          <a:xfrm>
            <a:off x="640080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423160"/>
            <a:ext cx="457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Collections DB</a:t>
            </a:r>
          </a:p>
        </p:txBody>
      </p:sp>
      <p:sp>
        <p:nvSpPr>
          <p:cNvPr id="20" name="s1_metric_3"/>
          <p:cNvSpPr/>
          <p:nvPr/>
        </p:nvSpPr>
        <p:spPr>
          <a:xfrm>
            <a:off x="923544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2423160"/>
            <a:ext cx="457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Contexts 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Livrables Sprint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Systeme d'inscription + login JWT complet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19472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Architecture multi-tenant avec isolation par org_id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66944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Onboarding wizard multi-etapes fonctionnel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14416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Systeme d'invitations avec tokens securises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61888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Interface org switcher pour navigation multi-org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3093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Decorateurs Python pour controle d'acces (4 niveaux)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10 / 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_badge"/>
          <p:cNvSpPr/>
          <p:nvPr/>
        </p:nvSpPr>
        <p:spPr>
          <a:xfrm>
            <a:off x="731520" y="45720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SPRINT 2</a:t>
            </a:r>
          </a:p>
        </p:txBody>
      </p:sp>
      <p:sp>
        <p:nvSpPr>
          <p:cNvPr id="6" name="accent_line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_title"/>
          <p:cNvSpPr txBox="1"/>
          <p:nvPr/>
        </p:nvSpPr>
        <p:spPr>
          <a:xfrm>
            <a:off x="731520" y="1280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Segoe UI Light"/>
              </a:rPr>
              <a:t>Extraction IA des Factures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0B981"/>
                </a:solidFill>
                <a:latin typeface="Segoe UI"/>
              </a:rPr>
              <a:t>Pipeline d'Extraction Intelligente</a:t>
            </a:r>
          </a:p>
        </p:txBody>
      </p:sp>
      <p:sp>
        <p:nvSpPr>
          <p:cNvPr id="9" name="s2_pipe_0"/>
          <p:cNvSpPr/>
          <p:nvPr/>
        </p:nvSpPr>
        <p:spPr>
          <a:xfrm>
            <a:off x="548640" y="2651760"/>
            <a:ext cx="1920240" cy="13716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2788920"/>
            <a:ext cx="457200" cy="4572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85292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PDF, Image, XML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08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15" name="s2_pipe_1"/>
          <p:cNvSpPr/>
          <p:nvPr/>
        </p:nvSpPr>
        <p:spPr>
          <a:xfrm>
            <a:off x="2834640" y="2651760"/>
            <a:ext cx="1920240" cy="13716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6160" y="2788920"/>
            <a:ext cx="457200" cy="457200"/>
          </a:xfrm>
          <a:prstGeom prst="ellipse">
            <a:avLst/>
          </a:prstGeom>
          <a:solidFill>
            <a:srgbClr val="388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85292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375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611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Tesseract + pdfplumber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108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21" name="s2_pipe_2"/>
          <p:cNvSpPr/>
          <p:nvPr/>
        </p:nvSpPr>
        <p:spPr>
          <a:xfrm>
            <a:off x="5120640" y="2651760"/>
            <a:ext cx="1920240" cy="13716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52160" y="278892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285292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3375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11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Claude / Ollama Prompt 83 lignes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108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27" name="s2_pipe_3"/>
          <p:cNvSpPr/>
          <p:nvPr/>
        </p:nvSpPr>
        <p:spPr>
          <a:xfrm>
            <a:off x="7406640" y="2651760"/>
            <a:ext cx="1920240" cy="13716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38160" y="27889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85292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3375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611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Scoring 0-100 par champ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108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33" name="s2_pipe_4"/>
          <p:cNvSpPr/>
          <p:nvPr/>
        </p:nvSpPr>
        <p:spPr>
          <a:xfrm>
            <a:off x="9692640" y="2651760"/>
            <a:ext cx="1920240" cy="13716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24160" y="278892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2852928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3375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Stockage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611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MongoDB + Metadonnees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0B981"/>
                </a:solidFill>
                <a:latin typeface="Segoe UI"/>
              </a:rPr>
              <a:t>Champs Extraits Automatiquement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846320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9103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Vendeur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0" y="4846320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49103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N° Facture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846320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9103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Date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20" y="4846320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491032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Echeance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394959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458967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TVA Vendeur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74720" y="5394959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11880" y="5458967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TVA Acheteur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5394959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5458967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Lignes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1120" y="5394959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5458967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Sous-total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943600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600760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Taxe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74720" y="5943600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11880" y="600760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Remise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5943600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600760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Total TTC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61120" y="5943600"/>
            <a:ext cx="2468880" cy="41148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6007608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✓  Devise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11 / 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_badge"/>
          <p:cNvSpPr/>
          <p:nvPr/>
        </p:nvSpPr>
        <p:spPr>
          <a:xfrm>
            <a:off x="731520" y="45720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SPRINT 2</a:t>
            </a:r>
          </a:p>
        </p:txBody>
      </p:sp>
      <p:sp>
        <p:nvSpPr>
          <p:cNvPr id="6" name="accent_line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_title"/>
          <p:cNvSpPr txBox="1"/>
          <p:nvPr/>
        </p:nvSpPr>
        <p:spPr>
          <a:xfrm>
            <a:off x="731520" y="1280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Segoe UI Light"/>
              </a:rPr>
              <a:t>Verification &amp; Scoring de Confiance</a:t>
            </a:r>
          </a:p>
        </p:txBody>
      </p:sp>
      <p:sp>
        <p:nvSpPr>
          <p:cNvPr id="8" name="verify_left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Document Original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743200"/>
            <a:ext cx="4297680" cy="320040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FACTURE N° INV-2026-0042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81528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Date: 15/03/2026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28416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Vendeur: TechSoft SARL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75304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TVA: 1234567A/P/M/000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22191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Designation     Qte   PU     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15968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Service Dev     1     5000    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62856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Maintenance     1     1200    1200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09744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56632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Sous-total:           6200 TND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0352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TVA 19%:              1178 TND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50408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onsolas"/>
              </a:rPr>
              <a:t>Total TTC:            7378 TND</a:t>
            </a:r>
          </a:p>
        </p:txBody>
      </p:sp>
      <p:sp>
        <p:nvSpPr>
          <p:cNvPr id="24" name="verify_right"/>
          <p:cNvSpPr/>
          <p:nvPr/>
        </p:nvSpPr>
        <p:spPr>
          <a:xfrm>
            <a:off x="6035040" y="2103120"/>
            <a:ext cx="5486400" cy="4114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2103120"/>
            <a:ext cx="5486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1488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Donnees Extraites + Confiance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432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Vendeur: TechSoft SARL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2788920"/>
            <a:ext cx="1371600" cy="164592"/>
          </a:xfrm>
          <a:prstGeom prst="round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788920"/>
            <a:ext cx="1303019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274320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0B981"/>
                </a:solidFill>
                <a:latin typeface="Segoe UI"/>
              </a:rPr>
              <a:t>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004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N° Facture: INV-2026-0042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3246120"/>
            <a:ext cx="1371600" cy="164592"/>
          </a:xfrm>
          <a:prstGeom prst="round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01200" y="3246120"/>
            <a:ext cx="1344168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18520" y="320040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0B981"/>
                </a:solidFill>
                <a:latin typeface="Segoe UI"/>
              </a:rPr>
              <a:t>98%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6576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Date: 2026-03-15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3703320"/>
            <a:ext cx="1371600" cy="164592"/>
          </a:xfrm>
          <a:prstGeom prst="round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01200" y="3703320"/>
            <a:ext cx="1261872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18520" y="365760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0B981"/>
                </a:solidFill>
                <a:latin typeface="Segoe UI"/>
              </a:rPr>
              <a:t>92%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1148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TVA Vendeur: 1234567A/P/M/000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4160520"/>
            <a:ext cx="1371600" cy="164592"/>
          </a:xfrm>
          <a:prstGeom prst="round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01200" y="4160520"/>
            <a:ext cx="1207008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411480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0B981"/>
                </a:solidFill>
                <a:latin typeface="Segoe UI"/>
              </a:rPr>
              <a:t>88%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5720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Sous-total: 6200 TND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4617720"/>
            <a:ext cx="1371600" cy="164592"/>
          </a:xfrm>
          <a:prstGeom prst="round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01200" y="4617720"/>
            <a:ext cx="1234440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18520" y="457200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0B981"/>
                </a:solidFill>
                <a:latin typeface="Segoe UI"/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0292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TVA: 1178 TND (19%)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01200" y="5074920"/>
            <a:ext cx="1371600" cy="164592"/>
          </a:xfrm>
          <a:prstGeom prst="round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01200" y="5074920"/>
            <a:ext cx="1165860" cy="1645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18520" y="502920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9E0B"/>
                </a:solidFill>
                <a:latin typeface="Segoe UI"/>
              </a:rPr>
              <a:t>85%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4864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Total TTC: 7378 TND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01200" y="5532120"/>
            <a:ext cx="1371600" cy="164592"/>
          </a:xfrm>
          <a:prstGeom prst="round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01200" y="5532120"/>
            <a:ext cx="1303019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18520" y="5486400"/>
            <a:ext cx="457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0B981"/>
                </a:solidFill>
                <a:latin typeface="Segoe UI"/>
              </a:rPr>
              <a:t>95%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5669280"/>
            <a:ext cx="4937760" cy="36576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7150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59E0B"/>
                </a:solidFill>
                <a:latin typeface="Segoe UI"/>
              </a:rPr>
              <a:t>Seuil de review humain : &lt; 60% confiance sur champs critiques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12 / 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_badge"/>
          <p:cNvSpPr/>
          <p:nvPr/>
        </p:nvSpPr>
        <p:spPr>
          <a:xfrm>
            <a:off x="731520" y="45720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SPRINT 2</a:t>
            </a:r>
          </a:p>
        </p:txBody>
      </p:sp>
      <p:sp>
        <p:nvSpPr>
          <p:cNvPr id="6" name="accent_line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_title"/>
          <p:cNvSpPr txBox="1"/>
          <p:nvPr/>
        </p:nvSpPr>
        <p:spPr>
          <a:xfrm>
            <a:off x="731520" y="1280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Segoe UI Light"/>
              </a:rPr>
              <a:t>Resultats Sprint 2</a:t>
            </a:r>
          </a:p>
        </p:txBody>
      </p:sp>
      <p:sp>
        <p:nvSpPr>
          <p:cNvPr id="8" name="s2_metric_0"/>
          <p:cNvSpPr/>
          <p:nvPr/>
        </p:nvSpPr>
        <p:spPr>
          <a:xfrm>
            <a:off x="73152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23160"/>
            <a:ext cx="457200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557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Lignes Extraction IA</a:t>
            </a:r>
          </a:p>
        </p:txBody>
      </p:sp>
      <p:sp>
        <p:nvSpPr>
          <p:cNvPr id="12" name="s2_metric_1"/>
          <p:cNvSpPr/>
          <p:nvPr/>
        </p:nvSpPr>
        <p:spPr>
          <a:xfrm>
            <a:off x="356616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2423160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Modeles LLM Integres</a:t>
            </a:r>
          </a:p>
        </p:txBody>
      </p:sp>
      <p:sp>
        <p:nvSpPr>
          <p:cNvPr id="16" name="s2_metric_2"/>
          <p:cNvSpPr/>
          <p:nvPr/>
        </p:nvSpPr>
        <p:spPr>
          <a:xfrm>
            <a:off x="640080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423160"/>
            <a:ext cx="457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Devises Supportees</a:t>
            </a:r>
          </a:p>
        </p:txBody>
      </p:sp>
      <p:sp>
        <p:nvSpPr>
          <p:cNvPr id="20" name="s2_metric_3"/>
          <p:cNvSpPr/>
          <p:nvPr/>
        </p:nvSpPr>
        <p:spPr>
          <a:xfrm>
            <a:off x="923544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2423160"/>
            <a:ext cx="457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Champs Extraits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Livrables Sprint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Pipeline triple fallback : Claude -&gt; Ollama -&gt;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OCR multi-langue : Francais, Anglais, Arabe (RTL)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Scoring de confiance 0-100 par champ extrait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Interface de verification double ecran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Traitement batch asynchrone via Celery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1722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Detection automatique de 50+ devises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922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Validation arithmetique intelligente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13 / 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_badge"/>
          <p:cNvSpPr/>
          <p:nvPr/>
        </p:nvSpPr>
        <p:spPr>
          <a:xfrm>
            <a:off x="731520" y="457200"/>
            <a:ext cx="16459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SPRINT 3</a:t>
            </a:r>
          </a:p>
        </p:txBody>
      </p:sp>
      <p:sp>
        <p:nvSpPr>
          <p:cNvPr id="6" name="accent_line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_title"/>
          <p:cNvSpPr txBox="1"/>
          <p:nvPr/>
        </p:nvSpPr>
        <p:spPr>
          <a:xfrm>
            <a:off x="731520" y="1280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Segoe UI Light"/>
              </a:rPr>
              <a:t>El Fatoora, Signature &amp; Billing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0B981"/>
                </a:solidFill>
                <a:latin typeface="Segoe UI"/>
              </a:rPr>
              <a:t>Flux de Soumission El Fatoora</a:t>
            </a:r>
          </a:p>
        </p:txBody>
      </p:sp>
      <p:sp>
        <p:nvSpPr>
          <p:cNvPr id="9" name="ef_step_0"/>
          <p:cNvSpPr/>
          <p:nvPr/>
        </p:nvSpPr>
        <p:spPr>
          <a:xfrm>
            <a:off x="457200" y="2560320"/>
            <a:ext cx="1965960" cy="12801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965960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2E75B6"/>
                </a:solidFill>
                <a:latin typeface="Segoe UI"/>
              </a:rPr>
              <a:t>Pre-Validation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965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Champs obligatoires Matricule fiscale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28803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14" name="ef_step_1"/>
          <p:cNvSpPr/>
          <p:nvPr/>
        </p:nvSpPr>
        <p:spPr>
          <a:xfrm>
            <a:off x="2743200" y="2560320"/>
            <a:ext cx="1965960" cy="12801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2560320"/>
            <a:ext cx="19659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697480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0B981"/>
                </a:solidFill>
                <a:latin typeface="Segoe UI"/>
              </a:rPr>
              <a:t>Validation Fiscale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17520"/>
            <a:ext cx="1965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TVA, arithmetique Score conformite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8803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19" name="ef_step_2"/>
          <p:cNvSpPr/>
          <p:nvPr/>
        </p:nvSpPr>
        <p:spPr>
          <a:xfrm>
            <a:off x="5029200" y="2560320"/>
            <a:ext cx="1965960" cy="12801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2560320"/>
            <a:ext cx="19659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697480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Generation XML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17520"/>
            <a:ext cx="1965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Format TTN Structure normee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19" y="28803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24" name="ef_step_3"/>
          <p:cNvSpPr/>
          <p:nvPr/>
        </p:nvSpPr>
        <p:spPr>
          <a:xfrm>
            <a:off x="7315200" y="2560320"/>
            <a:ext cx="1965960" cy="12801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560320"/>
            <a:ext cx="196596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EF4444"/>
                </a:solidFill>
                <a:latin typeface="Segoe UI"/>
              </a:rPr>
              <a:t>Soumission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017520"/>
            <a:ext cx="1965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API El Fatoora ID unique TTN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28803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10B981"/>
                </a:solidFill>
                <a:latin typeface="Segoe UI"/>
              </a:rPr>
              <a:t>→</a:t>
            </a:r>
          </a:p>
        </p:txBody>
      </p:sp>
      <p:sp>
        <p:nvSpPr>
          <p:cNvPr id="29" name="ef_step_4"/>
          <p:cNvSpPr/>
          <p:nvPr/>
        </p:nvSpPr>
        <p:spPr>
          <a:xfrm>
            <a:off x="9601200" y="2560320"/>
            <a:ext cx="1965960" cy="12801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2560320"/>
            <a:ext cx="1965960" cy="38100"/>
          </a:xfrm>
          <a:prstGeom prst="rect">
            <a:avLst/>
          </a:prstGeom>
          <a:solidFill>
            <a:srgbClr val="388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697480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388AE5"/>
                </a:solidFill>
                <a:latin typeface="Segoe UI"/>
              </a:rPr>
              <a:t>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017520"/>
            <a:ext cx="1965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Horodatage Historique complet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0B981"/>
                </a:solidFill>
                <a:latin typeface="Segoe UI"/>
              </a:rPr>
              <a:t>Plans Tarifaires Stripe</a:t>
            </a:r>
          </a:p>
        </p:txBody>
      </p:sp>
      <p:sp>
        <p:nvSpPr>
          <p:cNvPr id="34" name="plan_0"/>
          <p:cNvSpPr/>
          <p:nvPr/>
        </p:nvSpPr>
        <p:spPr>
          <a:xfrm>
            <a:off x="731520" y="4663440"/>
            <a:ext cx="3291840" cy="16459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800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94A3B8"/>
                </a:solidFill>
                <a:latin typeface="Segoe UI"/>
              </a:rPr>
              <a:t>Free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663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0 TND/mois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778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50 factures, 3 membres, 20 requetes IA</a:t>
            </a:r>
          </a:p>
        </p:txBody>
      </p:sp>
      <p:sp>
        <p:nvSpPr>
          <p:cNvPr id="38" name="plan_1"/>
          <p:cNvSpPr/>
          <p:nvPr/>
        </p:nvSpPr>
        <p:spPr>
          <a:xfrm>
            <a:off x="4389120" y="4663440"/>
            <a:ext cx="3291840" cy="16459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800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E75B6"/>
                </a:solidFill>
                <a:latin typeface="Segoe UI"/>
              </a:rPr>
              <a:t>Pro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1663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29 USD/mois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5778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500 factures, 15 membres, 200 requetes IA</a:t>
            </a:r>
          </a:p>
        </p:txBody>
      </p:sp>
      <p:sp>
        <p:nvSpPr>
          <p:cNvPr id="42" name="plan_2"/>
          <p:cNvSpPr/>
          <p:nvPr/>
        </p:nvSpPr>
        <p:spPr>
          <a:xfrm>
            <a:off x="8046720" y="4663440"/>
            <a:ext cx="3291840" cy="16459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800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Enterprise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1663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99 USD/mois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57784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Illimite, support prioritaire, SLA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14 / 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_badge"/>
          <p:cNvSpPr/>
          <p:nvPr/>
        </p:nvSpPr>
        <p:spPr>
          <a:xfrm>
            <a:off x="731520" y="457200"/>
            <a:ext cx="16459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SPRINT 3</a:t>
            </a:r>
          </a:p>
        </p:txBody>
      </p:sp>
      <p:sp>
        <p:nvSpPr>
          <p:cNvPr id="6" name="accent_line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_title"/>
          <p:cNvSpPr txBox="1"/>
          <p:nvPr/>
        </p:nvSpPr>
        <p:spPr>
          <a:xfrm>
            <a:off x="731520" y="1280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Segoe UI Light"/>
              </a:rPr>
              <a:t>Dashboard &amp; Conseiller IA</a:t>
            </a:r>
          </a:p>
        </p:txBody>
      </p:sp>
      <p:sp>
        <p:nvSpPr>
          <p:cNvPr id="8" name="dash_mock"/>
          <p:cNvSpPr/>
          <p:nvPr/>
        </p:nvSpPr>
        <p:spPr>
          <a:xfrm>
            <a:off x="731520" y="2103120"/>
            <a:ext cx="6858000" cy="43891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68580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Tableau de Bord Analytique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43200"/>
            <a:ext cx="1417320" cy="82296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156 420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0896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Montant Total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743200"/>
            <a:ext cx="1417320" cy="82296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788920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E75B6"/>
                </a:solidFill>
                <a:latin typeface="Segoe UI"/>
              </a:rPr>
              <a:t>342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10896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Factures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743200"/>
            <a:ext cx="1417320" cy="82296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788920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59E0B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0896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A Revoir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743200"/>
            <a:ext cx="1417320" cy="82296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2788920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388AE5"/>
                </a:solidFill>
                <a:latin typeface="Segoe UI"/>
              </a:rPr>
              <a:t>457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10896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Segoe UI"/>
              </a:rPr>
              <a:t>Moy/Facture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749039"/>
            <a:ext cx="3657600" cy="246888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3840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Tendance Mensuelle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5212080"/>
            <a:ext cx="3200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65960" y="4846320"/>
            <a:ext cx="32004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68880" y="5120640"/>
            <a:ext cx="320040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71800" y="4572000"/>
            <a:ext cx="32004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4937760"/>
            <a:ext cx="32004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77639" y="4297680"/>
            <a:ext cx="320040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46320" y="3749039"/>
            <a:ext cx="2468880" cy="246888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3840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Par Vendeur</a:t>
            </a:r>
          </a:p>
        </p:txBody>
      </p:sp>
      <p:sp>
        <p:nvSpPr>
          <p:cNvPr id="33" name="Oval 32"/>
          <p:cNvSpPr/>
          <p:nvPr/>
        </p:nvSpPr>
        <p:spPr>
          <a:xfrm>
            <a:off x="5394960" y="4297680"/>
            <a:ext cx="1371600" cy="13716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23560" y="452628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06440" y="47091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dvisor_mock"/>
          <p:cNvSpPr/>
          <p:nvPr/>
        </p:nvSpPr>
        <p:spPr>
          <a:xfrm>
            <a:off x="7863840" y="2103120"/>
            <a:ext cx="3840480" cy="43891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2103120"/>
            <a:ext cx="38404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214884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Conseiller 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2743200"/>
            <a:ext cx="3200400" cy="640080"/>
          </a:xfrm>
          <a:prstGeom prst="roundRect">
            <a:avLst/>
          </a:prstGeom>
          <a:solidFill>
            <a:srgbClr val="1A4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788920"/>
            <a:ext cx="30175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2E75B6"/>
                </a:solidFill>
                <a:latin typeface="Segoe UI"/>
              </a:rPr>
              <a:t>Utilisateur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944368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Analyser mes depenses Q1 2026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3520440"/>
            <a:ext cx="3200400" cy="64008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566160"/>
            <a:ext cx="30175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0B981"/>
                </a:solidFill>
                <a:latin typeface="Segoe UI"/>
              </a:rPr>
              <a:t>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721608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Vos depenses Q1 montrent une hausse de 15% vs Q4. Principaux postes : services IT (42%), fournitures (28%).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4297680"/>
            <a:ext cx="3200400" cy="640080"/>
          </a:xfrm>
          <a:prstGeom prst="roundRect">
            <a:avLst/>
          </a:prstGeom>
          <a:solidFill>
            <a:srgbClr val="1A4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343400"/>
            <a:ext cx="30175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2E75B6"/>
                </a:solidFill>
                <a:latin typeface="Segoe UI"/>
              </a:rPr>
              <a:t>Utilisateur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498848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Quelles factures sont non-conformes 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074920"/>
            <a:ext cx="3200400" cy="64008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5120640"/>
            <a:ext cx="301752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0B981"/>
                </a:solidFill>
                <a:latin typeface="Segoe UI"/>
              </a:rPr>
              <a:t>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276088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Segoe UI"/>
              </a:rPr>
              <a:t>3 factures n'ont pas de matricule fiscale vendeur. Recommandation : contacter les fournisseurs.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15 / 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print_badge"/>
          <p:cNvSpPr/>
          <p:nvPr/>
        </p:nvSpPr>
        <p:spPr>
          <a:xfrm>
            <a:off x="731520" y="457200"/>
            <a:ext cx="16459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SPRINT 3</a:t>
            </a:r>
          </a:p>
        </p:txBody>
      </p:sp>
      <p:sp>
        <p:nvSpPr>
          <p:cNvPr id="6" name="accent_line"/>
          <p:cNvSpPr/>
          <p:nvPr/>
        </p:nvSpPr>
        <p:spPr>
          <a:xfrm>
            <a:off x="731520" y="109728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_title"/>
          <p:cNvSpPr txBox="1"/>
          <p:nvPr/>
        </p:nvSpPr>
        <p:spPr>
          <a:xfrm>
            <a:off x="731520" y="12801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Segoe UI Light"/>
              </a:rPr>
              <a:t>Resultats Sprint 3</a:t>
            </a:r>
          </a:p>
        </p:txBody>
      </p:sp>
      <p:sp>
        <p:nvSpPr>
          <p:cNvPr id="8" name="s3_metric_0"/>
          <p:cNvSpPr/>
          <p:nvPr/>
        </p:nvSpPr>
        <p:spPr>
          <a:xfrm>
            <a:off x="73152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423160"/>
            <a:ext cx="457200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1 043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Lignes TEJ XML</a:t>
            </a:r>
          </a:p>
        </p:txBody>
      </p:sp>
      <p:sp>
        <p:nvSpPr>
          <p:cNvPr id="12" name="s3_metric_1"/>
          <p:cNvSpPr/>
          <p:nvPr/>
        </p:nvSpPr>
        <p:spPr>
          <a:xfrm>
            <a:off x="356616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2423160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Routes TTN</a:t>
            </a:r>
          </a:p>
        </p:txBody>
      </p:sp>
      <p:sp>
        <p:nvSpPr>
          <p:cNvPr id="16" name="s3_metric_2"/>
          <p:cNvSpPr/>
          <p:nvPr/>
        </p:nvSpPr>
        <p:spPr>
          <a:xfrm>
            <a:off x="640080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423160"/>
            <a:ext cx="457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Plans Stripe</a:t>
            </a:r>
          </a:p>
        </p:txBody>
      </p:sp>
      <p:sp>
        <p:nvSpPr>
          <p:cNvPr id="20" name="s3_metric_3"/>
          <p:cNvSpPr/>
          <p:nvPr/>
        </p:nvSpPr>
        <p:spPr>
          <a:xfrm>
            <a:off x="9235440" y="2286000"/>
            <a:ext cx="2560320" cy="14630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2423160"/>
            <a:ext cx="457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6060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1 209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2461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Lignes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Livrables Sprint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262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Integration El Fatoora TTN avec soumission et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18888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TEJ : certificats de retenue a la source (5 types)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11496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Signature electronique XAdES-B avec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04104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Tableau de bord analytique avec 4 KPIs + 3 graphiques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96712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Conseiller IA conversationnel integre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Systeme de notifications multi-canal (in-app, email, SMS)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281928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Integration Stripe avec 3 plans tarifaires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574536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✓  Export Excel individuel et batch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16 / 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Fonctionnalites Avancees</a:t>
            </a:r>
          </a:p>
        </p:txBody>
      </p:sp>
      <p:sp>
        <p:nvSpPr>
          <p:cNvPr id="6" name="adv_feat_0"/>
          <p:cNvSpPr/>
          <p:nvPr/>
        </p:nvSpPr>
        <p:spPr>
          <a:xfrm>
            <a:off x="731520" y="1828800"/>
            <a:ext cx="329184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800" cy="1920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QR Code Partage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Generation et scan de QR codes pour partage inter-utilisateurs</a:t>
            </a:r>
          </a:p>
        </p:txBody>
      </p:sp>
      <p:sp>
        <p:nvSpPr>
          <p:cNvPr id="10" name="adv_feat_1"/>
          <p:cNvSpPr/>
          <p:nvPr/>
        </p:nvSpPr>
        <p:spPr>
          <a:xfrm>
            <a:off x="4389120" y="1828800"/>
            <a:ext cx="329184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50800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Trilingue FR/EN/AR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Support complet avec gestion RTL arabe</a:t>
            </a:r>
          </a:p>
        </p:txBody>
      </p:sp>
      <p:sp>
        <p:nvSpPr>
          <p:cNvPr id="14" name="adv_feat_2"/>
          <p:cNvSpPr/>
          <p:nvPr/>
        </p:nvSpPr>
        <p:spPr>
          <a:xfrm>
            <a:off x="8046720" y="1828800"/>
            <a:ext cx="329184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50800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6888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In-app, Email (Gmail SMTP), SMS (Twilio) + Digest</a:t>
            </a:r>
          </a:p>
        </p:txBody>
      </p:sp>
      <p:sp>
        <p:nvSpPr>
          <p:cNvPr id="18" name="adv_feat_3"/>
          <p:cNvSpPr/>
          <p:nvPr/>
        </p:nvSpPr>
        <p:spPr>
          <a:xfrm>
            <a:off x="731520" y="4114800"/>
            <a:ext cx="329184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50800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976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Historique complet des actions avec IP et horodatage</a:t>
            </a:r>
          </a:p>
        </p:txBody>
      </p:sp>
      <p:sp>
        <p:nvSpPr>
          <p:cNvPr id="22" name="adv_feat_4"/>
          <p:cNvSpPr/>
          <p:nvPr/>
        </p:nvSpPr>
        <p:spPr>
          <a:xfrm>
            <a:off x="4389120" y="4114800"/>
            <a:ext cx="329184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114800"/>
            <a:ext cx="50800" cy="1920240"/>
          </a:xfrm>
          <a:prstGeom prst="rect">
            <a:avLst/>
          </a:prstGeom>
          <a:solidFill>
            <a:srgbClr val="388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2976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Export Multi-Format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75488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Excel (openpyxl), PDF (jsPDF) avec mise en forme</a:t>
            </a:r>
          </a:p>
        </p:txBody>
      </p:sp>
      <p:sp>
        <p:nvSpPr>
          <p:cNvPr id="26" name="adv_feat_5"/>
          <p:cNvSpPr/>
          <p:nvPr/>
        </p:nvSpPr>
        <p:spPr>
          <a:xfrm>
            <a:off x="8046720" y="4114800"/>
            <a:ext cx="3291840" cy="192024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114800"/>
            <a:ext cx="50800" cy="1920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2976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Gestion d'Equipe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754880"/>
            <a:ext cx="28346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Invitations, roles, permissions par organisation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17 / 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Metriques Globales du Projet</a:t>
            </a:r>
          </a:p>
        </p:txBody>
      </p:sp>
      <p:sp>
        <p:nvSpPr>
          <p:cNvPr id="6" name="global_metric_0"/>
          <p:cNvSpPr/>
          <p:nvPr/>
        </p:nvSpPr>
        <p:spPr>
          <a:xfrm>
            <a:off x="457200" y="1828800"/>
            <a:ext cx="2560320" cy="1828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457200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35 996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Lignes de Code</a:t>
            </a:r>
          </a:p>
        </p:txBody>
      </p:sp>
      <p:sp>
        <p:nvSpPr>
          <p:cNvPr id="10" name="global_metric_1"/>
          <p:cNvSpPr/>
          <p:nvPr/>
        </p:nvSpPr>
        <p:spPr>
          <a:xfrm>
            <a:off x="3291840" y="1828800"/>
            <a:ext cx="2560320" cy="1828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965960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51+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88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Endpoints API</a:t>
            </a:r>
          </a:p>
        </p:txBody>
      </p:sp>
      <p:sp>
        <p:nvSpPr>
          <p:cNvPr id="14" name="global_metric_2"/>
          <p:cNvSpPr/>
          <p:nvPr/>
        </p:nvSpPr>
        <p:spPr>
          <a:xfrm>
            <a:off x="6126480" y="1828800"/>
            <a:ext cx="2560320" cy="1828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65960"/>
            <a:ext cx="457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88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Microservices Backend</a:t>
            </a:r>
          </a:p>
        </p:txBody>
      </p:sp>
      <p:sp>
        <p:nvSpPr>
          <p:cNvPr id="18" name="global_metric_3"/>
          <p:cNvSpPr/>
          <p:nvPr/>
        </p:nvSpPr>
        <p:spPr>
          <a:xfrm>
            <a:off x="8961120" y="1828800"/>
            <a:ext cx="2560320" cy="1828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965960"/>
            <a:ext cx="457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1488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68+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788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Composants React</a:t>
            </a:r>
          </a:p>
        </p:txBody>
      </p:sp>
      <p:sp>
        <p:nvSpPr>
          <p:cNvPr id="22" name="global_metric_4"/>
          <p:cNvSpPr/>
          <p:nvPr/>
        </p:nvSpPr>
        <p:spPr>
          <a:xfrm>
            <a:off x="457200" y="4114800"/>
            <a:ext cx="2560320" cy="1828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251960"/>
            <a:ext cx="457200" cy="38100"/>
          </a:xfrm>
          <a:prstGeom prst="rect">
            <a:avLst/>
          </a:prstGeom>
          <a:solidFill>
            <a:srgbClr val="388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348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Collections MongoDB</a:t>
            </a:r>
          </a:p>
        </p:txBody>
      </p:sp>
      <p:sp>
        <p:nvSpPr>
          <p:cNvPr id="26" name="global_metric_5"/>
          <p:cNvSpPr/>
          <p:nvPr/>
        </p:nvSpPr>
        <p:spPr>
          <a:xfrm>
            <a:off x="3291840" y="4114800"/>
            <a:ext cx="2560320" cy="1828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4251960"/>
            <a:ext cx="457200" cy="381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44348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74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Langues (FR/EN/AR)</a:t>
            </a:r>
          </a:p>
        </p:txBody>
      </p:sp>
      <p:sp>
        <p:nvSpPr>
          <p:cNvPr id="30" name="global_metric_6"/>
          <p:cNvSpPr/>
          <p:nvPr/>
        </p:nvSpPr>
        <p:spPr>
          <a:xfrm>
            <a:off x="6126480" y="4114800"/>
            <a:ext cx="2560320" cy="1828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251960"/>
            <a:ext cx="457200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4348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074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Pages Frontend</a:t>
            </a:r>
          </a:p>
        </p:txBody>
      </p:sp>
      <p:sp>
        <p:nvSpPr>
          <p:cNvPr id="34" name="global_metric_7"/>
          <p:cNvSpPr/>
          <p:nvPr/>
        </p:nvSpPr>
        <p:spPr>
          <a:xfrm>
            <a:off x="8961120" y="4114800"/>
            <a:ext cx="2560320" cy="1828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4251960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44348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130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507492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Fichiers Source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18 / 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Repartition du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E75B6"/>
                </a:solidFill>
                <a:latin typeface="Segoe UI"/>
              </a:rPr>
              <a:t>Backend Python — 10 205 lignes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app.py (API Routes)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9456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2 671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240280"/>
            <a:ext cx="880533" cy="16459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notification_service.py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70048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1 209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715768"/>
            <a:ext cx="406400" cy="16459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4553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tej_xml_generator.py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145536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1 043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191256"/>
            <a:ext cx="338666" cy="16459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2102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org_service.py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62102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785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666744"/>
            <a:ext cx="270933" cy="16459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extractor_core.py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96512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557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142232"/>
            <a:ext cx="169333" cy="16459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xml_parser.py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57200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510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4617720"/>
            <a:ext cx="169333" cy="16459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4748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tax_validator.py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047488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391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5093208"/>
            <a:ext cx="135466" cy="16459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22976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billing_service.py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522976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358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5568696"/>
            <a:ext cx="101600" cy="16459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9846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Autres services (8)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998464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FFFFFF"/>
                </a:solidFill>
                <a:latin typeface="Segoe UI"/>
              </a:rPr>
              <a:t>2 681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6044184"/>
            <a:ext cx="914400" cy="16459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0B981"/>
                </a:solidFill>
                <a:latin typeface="Segoe UI"/>
              </a:rPr>
              <a:t>Frontend TypeScript — 25 791 lignes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Composants Metier (22)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1945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FFFFFF"/>
                </a:solidFill>
                <a:latin typeface="Segoe UI"/>
              </a:rPr>
              <a:t>~12 000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514600"/>
            <a:ext cx="137160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83463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Composants UI Shadcn (46)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834639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FFFFFF"/>
                </a:solidFill>
                <a:latin typeface="Segoe UI"/>
              </a:rPr>
              <a:t>~8 000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154679"/>
            <a:ext cx="924339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Pages Next.js (17)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4747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FFFFFF"/>
                </a:solidFill>
                <a:latin typeface="Segoe UI"/>
              </a:rPr>
              <a:t>~3 000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794760"/>
            <a:ext cx="357808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114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Contexts &amp; Lib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114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FFFFFF"/>
                </a:solidFill>
                <a:latin typeface="Segoe UI"/>
              </a:rPr>
              <a:t>~1 500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434840"/>
            <a:ext cx="178904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75487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Configuration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4754879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>
                <a:solidFill>
                  <a:srgbClr val="FFFFFF"/>
                </a:solidFill>
                <a:latin typeface="Segoe UI"/>
              </a:rPr>
              <a:t>~1 291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074919"/>
            <a:ext cx="149086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743200" y="5669280"/>
            <a:ext cx="6675120" cy="73152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0" y="5760720"/>
            <a:ext cx="6675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0B981"/>
                </a:solidFill>
                <a:latin typeface="Segoe UI"/>
              </a:rPr>
              <a:t>Ratio Frontend/Backend :  72% / 28%  |  130 fichiers source  |  5 services Docker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19 / 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Difficultes &amp; Solutions</a:t>
            </a:r>
          </a:p>
        </p:txBody>
      </p:sp>
      <p:sp>
        <p:nvSpPr>
          <p:cNvPr id="6" name="challenge_0"/>
          <p:cNvSpPr/>
          <p:nvPr/>
        </p:nvSpPr>
        <p:spPr>
          <a:xfrm>
            <a:off x="731520" y="1737360"/>
            <a:ext cx="10515600" cy="10515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800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Precision OCR Arabe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F4444"/>
                </a:solidFill>
                <a:latin typeface="Segoe UI"/>
              </a:rPr>
              <a:t>Probleme : Tesseract peu fiable sur texte arabe manuscrit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0B981"/>
                </a:solidFill>
                <a:latin typeface="Segoe UI"/>
              </a:rPr>
              <a:t>Solution : Pre-traitement image (contraste, debruitage) + prompt LLM specialise RTL</a:t>
            </a:r>
          </a:p>
        </p:txBody>
      </p:sp>
      <p:sp>
        <p:nvSpPr>
          <p:cNvPr id="11" name="challenge_1"/>
          <p:cNvSpPr/>
          <p:nvPr/>
        </p:nvSpPr>
        <p:spPr>
          <a:xfrm>
            <a:off x="731520" y="2971800"/>
            <a:ext cx="10515600" cy="10515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5080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Disponibilite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83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F4444"/>
                </a:solidFill>
                <a:latin typeface="Segoe UI"/>
              </a:rPr>
              <a:t>Probleme : API Cloud indisponible = blocage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0B981"/>
                </a:solidFill>
                <a:latin typeface="Segoe UI"/>
              </a:rPr>
              <a:t>Solution : Architecture triple fallback : Claude -&gt; Ollama local -&gt; Template</a:t>
            </a:r>
          </a:p>
        </p:txBody>
      </p:sp>
      <p:sp>
        <p:nvSpPr>
          <p:cNvPr id="16" name="challenge_2"/>
          <p:cNvSpPr/>
          <p:nvPr/>
        </p:nvSpPr>
        <p:spPr>
          <a:xfrm>
            <a:off x="731520" y="4206240"/>
            <a:ext cx="10515600" cy="10515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50800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Conformite El Fatoora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F4444"/>
                </a:solidFill>
                <a:latin typeface="Segoe UI"/>
              </a:rPr>
              <a:t>Probleme : API TTN non encore publiee officiellement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0B981"/>
                </a:solidFill>
                <a:latin typeface="Segoe UI"/>
              </a:rPr>
              <a:t>Solution : Simulation complete + structure preparee pour integration reelle</a:t>
            </a:r>
          </a:p>
        </p:txBody>
      </p:sp>
      <p:sp>
        <p:nvSpPr>
          <p:cNvPr id="21" name="challenge_3"/>
          <p:cNvSpPr/>
          <p:nvPr/>
        </p:nvSpPr>
        <p:spPr>
          <a:xfrm>
            <a:off x="731520" y="5440680"/>
            <a:ext cx="10515600" cy="105156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440680"/>
            <a:ext cx="50800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Isolation Multi-Tenant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521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EF4444"/>
                </a:solidFill>
                <a:latin typeface="Segoe UI"/>
              </a:rPr>
              <a:t>Probleme : Risque de fuite de donnees entre organisations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126480"/>
            <a:ext cx="9875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0B981"/>
                </a:solidFill>
                <a:latin typeface="Segoe UI"/>
              </a:rPr>
              <a:t>Solution : Filtrage systematique par org_id + decorateurs d'acces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20 /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title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>
                <a:solidFill>
                  <a:srgbClr val="FFFFFF"/>
                </a:solidFill>
                <a:latin typeface="Segoe UI Light"/>
              </a:rPr>
              <a:t>Perspectives d'Evolution</a:t>
            </a:r>
          </a:p>
        </p:txBody>
      </p:sp>
      <p:sp>
        <p:nvSpPr>
          <p:cNvPr id="6" name="persp_0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29184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Court Terme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51760"/>
            <a:ext cx="2926080" cy="77724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Integration API El Fatoora reelle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2926080" cy="77724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Application mobile React Native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63440"/>
            <a:ext cx="2926080" cy="77724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Amelioration OCR avec modeles dedies</a:t>
            </a:r>
          </a:p>
        </p:txBody>
      </p:sp>
      <p:sp>
        <p:nvSpPr>
          <p:cNvPr id="15" name="persp_1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32918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Moyen Terme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651760"/>
            <a:ext cx="2926080" cy="77724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8346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Marketplace de templates facture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657600"/>
            <a:ext cx="2926080" cy="77724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Integration comptable (Sage, QuickBooks)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663440"/>
            <a:ext cx="2926080" cy="77724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846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IA predictive pour tresorerie</a:t>
            </a:r>
          </a:p>
        </p:txBody>
      </p:sp>
      <p:sp>
        <p:nvSpPr>
          <p:cNvPr id="24" name="persp_2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0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828800"/>
            <a:ext cx="32918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9202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Long Terme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651760"/>
            <a:ext cx="2926080" cy="77724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Expansion multi-pays (Maghreb, Afrique)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657600"/>
            <a:ext cx="2926080" cy="77724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Blockchain pour audit immutable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663440"/>
            <a:ext cx="2926080" cy="77724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84632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94A3B8"/>
                </a:solidFill>
                <a:latin typeface="Segoe UI"/>
              </a:rPr>
              <a:t>API ouverte pour ecosysteme tiers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Segoe UI Light"/>
              </a:rPr>
              <a:t>21 / 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line"/>
          <p:cNvSpPr/>
          <p:nvPr/>
        </p:nvSpPr>
        <p:spPr>
          <a:xfrm>
            <a:off x="5120640" y="1645920"/>
            <a:ext cx="19202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ain_title"/>
          <p:cNvSpPr txBox="1"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FFFFFF"/>
                </a:solidFill>
                <a:latin typeface="Segoe UI Light"/>
              </a:rPr>
              <a:t>Merci de votre attention</a:t>
            </a:r>
          </a:p>
        </p:txBody>
      </p:sp>
      <p:sp>
        <p:nvSpPr>
          <p:cNvPr id="6" name="tagline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0">
                <a:solidFill>
                  <a:srgbClr val="10B981"/>
                </a:solidFill>
                <a:latin typeface="Segoe UI Light"/>
              </a:rPr>
              <a:t>SmartInvoice AI</a:t>
            </a:r>
          </a:p>
        </p:txBody>
      </p:sp>
      <p:sp>
        <p:nvSpPr>
          <p:cNvPr id="7" name="tagline2"/>
          <p:cNvSpPr txBox="1"/>
          <p:nvPr/>
        </p:nvSpPr>
        <p:spPr>
          <a:xfrm>
            <a:off x="1371600" y="3749039"/>
            <a:ext cx="9418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94A3B8"/>
                </a:solidFill>
                <a:latin typeface="Segoe UI Light"/>
              </a:rPr>
              <a:t>Plateforme SaaS de Gestion Intelligente des Factures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10B981"/>
                </a:solidFill>
                <a:latin typeface="Segoe UI Light"/>
              </a:rPr>
              <a:t>35 996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Lignes 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5720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10B981"/>
                </a:solidFill>
                <a:latin typeface="Segoe UI Light"/>
              </a:rPr>
              <a:t>51+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0292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API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10B981"/>
                </a:solidFill>
                <a:latin typeface="Segoe UI Light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292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720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10B981"/>
                </a:solidFill>
                <a:latin typeface="Segoe UI Ligh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02920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Segoe UI"/>
              </a:rPr>
              <a:t>Sprints</a:t>
            </a:r>
          </a:p>
        </p:txBody>
      </p:sp>
      <p:sp>
        <p:nvSpPr>
          <p:cNvPr id="16" name="student_info"/>
          <p:cNvSpPr txBox="1"/>
          <p:nvPr/>
        </p:nvSpPr>
        <p:spPr>
          <a:xfrm>
            <a:off x="1371600" y="566928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94A3B8"/>
                </a:solidFill>
                <a:latin typeface="Segoe UI Light"/>
              </a:rPr>
              <a:t>Anas Badri  |  2025-2026  |  github.com/myanasbadri/PFE_SAAS</a:t>
            </a:r>
          </a:p>
        </p:txBody>
      </p:sp>
      <p:sp>
        <p:nvSpPr>
          <p:cNvPr id="17" name="dot_0"/>
          <p:cNvSpPr/>
          <p:nvPr/>
        </p:nvSpPr>
        <p:spPr>
          <a:xfrm>
            <a:off x="5303520" y="6126480"/>
            <a:ext cx="73152" cy="73152"/>
          </a:xfrm>
          <a:prstGeom prst="ellipse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1"/>
          <p:cNvSpPr/>
          <p:nvPr/>
        </p:nvSpPr>
        <p:spPr>
          <a:xfrm>
            <a:off x="5532120" y="6126480"/>
            <a:ext cx="73152" cy="73152"/>
          </a:xfrm>
          <a:prstGeom prst="ellipse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_2"/>
          <p:cNvSpPr/>
          <p:nvPr/>
        </p:nvSpPr>
        <p:spPr>
          <a:xfrm>
            <a:off x="5760720" y="6126480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t_3"/>
          <p:cNvSpPr/>
          <p:nvPr/>
        </p:nvSpPr>
        <p:spPr>
          <a:xfrm>
            <a:off x="5989320" y="6126480"/>
            <a:ext cx="73152" cy="73152"/>
          </a:xfrm>
          <a:prstGeom prst="ellipse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t_4"/>
          <p:cNvSpPr/>
          <p:nvPr/>
        </p:nvSpPr>
        <p:spPr>
          <a:xfrm>
            <a:off x="6217920" y="6126480"/>
            <a:ext cx="73152" cy="73152"/>
          </a:xfrm>
          <a:prstGeom prst="ellipse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xmlns:p159="http://schemas.microsoft.com/office/powerpoint/2015/09/main" spd="slow" advClick="1">
    <p159:morph p159: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